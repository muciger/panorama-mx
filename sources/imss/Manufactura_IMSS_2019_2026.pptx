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35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Formal — IMSS 2019–2026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Desagregación a 20 subsectores y 129 fracciones productivas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383280"/>
            <a:ext cx="20116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274320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5.916M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42245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formales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3383280"/>
            <a:ext cx="20116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2450592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42245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interanual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3383280"/>
            <a:ext cx="20116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42245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Ene 2019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03136" y="3383280"/>
            <a:ext cx="20116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6803136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42245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datos.imss.gob.mx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en el empleo formal mexicano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y tendencia 2019–2026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64008" cy="13258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338328" y="960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5.916M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formales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04872" y="91440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Shape 9"/>
          <p:cNvSpPr/>
          <p:nvPr/>
        </p:nvSpPr>
        <p:spPr>
          <a:xfrm>
            <a:off x="2404872" y="91440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2514600" y="960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1460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 → Mar 2026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81144" y="91440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6" name="Shape 14"/>
          <p:cNvSpPr/>
          <p:nvPr/>
        </p:nvSpPr>
        <p:spPr>
          <a:xfrm>
            <a:off x="4581144" y="914400"/>
            <a:ext cx="64008" cy="13258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4690872" y="960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90872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Crec. vs 2019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90872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enero 2019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57416" y="91440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1" name="Shape 19"/>
          <p:cNvSpPr/>
          <p:nvPr/>
        </p:nvSpPr>
        <p:spPr>
          <a:xfrm>
            <a:off x="6757416" y="914400"/>
            <a:ext cx="64008" cy="13258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6867144" y="960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67144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empleo nacional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6714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cada 4 puestos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2377440"/>
            <a:ext cx="8686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concentra 26% del empleo formal en México (5.9M de 22.8M puestos).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interanual de -2.1% refleja la contracción del sector automotriz y de confección desde mediados de 2025.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acumulado desde 2019 (+7.8%) muestra recuperación postpandemia consolidada, aunque con desaceleración desde 2022.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Text 25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manufacturero creció pero pierde impulso desde 2022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mensual 2019–2026 + variación interanual</a:t>
            </a:r>
            <a:endParaRPr lang="en-US" sz="900" dirty="0"/>
          </a:p>
        </p:txBody>
      </p:sp>
      <p:pic>
        <p:nvPicPr>
          <p:cNvPr id="5" name="Image 0" descr="/sessions/funny-pensive-shannon/mnt/outputs/c_s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877824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Transporte y Alimentos concentran casi el 35% del sector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empleo manufacturero — Marzo 2026</a:t>
            </a:r>
            <a:endParaRPr lang="en-US" sz="900" dirty="0"/>
          </a:p>
        </p:txBody>
      </p:sp>
      <p:pic>
        <p:nvPicPr>
          <p:cNvPr id="5" name="Image 0" descr="/sessions/funny-pensive-shannon/mnt/outputs/c_tre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877824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(1.1M) y Alimentos (912k) lideran el empleo manufacturero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subsectores a 2 dígitos — puestos formales Marzo 2026</a:t>
            </a:r>
            <a:endParaRPr lang="en-US" sz="900" dirty="0"/>
          </a:p>
        </p:txBody>
      </p:sp>
      <p:pic>
        <p:nvPicPr>
          <p:cNvPr id="5" name="Image 0" descr="/sessions/funny-pensive-shannon/mnt/outputs/c_sec2_bar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3 de 20 subsectores crecen en el último año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interanual (%) — Mar 2025 → Mar 2026</a:t>
            </a:r>
            <a:endParaRPr lang="en-US" sz="900" dirty="0"/>
          </a:p>
        </p:txBody>
      </p:sp>
      <p:pic>
        <p:nvPicPr>
          <p:cNvPr id="5" name="Image 0" descr="/sessions/funny-pensive-shannon/mnt/outputs/c_sec2_y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los 20 subsectores manufactureros — puestos y variación interanual (Mar 2026 vs Mar 2025)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8778240" cy="447294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Subsector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Puestos (miles)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interanual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Ensamble de Equipo de Transporte y su…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Elaboración de Alimentos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 y Ensamble de Maquinaria, Equipo…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 de Productos Metálicos Maquinari…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539.4k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 de Productos de Hule y Plástico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458.4k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Otras Industrias Manufactureras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 Química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317.7k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Fab., Ensamble y Reparación de Maquin…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Confección Calzado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 del Papel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 de Productos de Minerales no Met…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Elaboración de Bebidas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141.7k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Industrias Metálicas Básicas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Industrias Editorial, de Impresión y 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 Textil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 y Reparación de Muebles de Mader…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109.6k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 de Calzado e Industria del Cuero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 y Productos de Madera y Cor…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Refinación del Petróleo y derivados d…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 y Fab. de Productos de Taba…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Equipo de Transporte y sus Partes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1110.3k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Alimentos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912.1k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 y Ensamble de Maquinaria, Equipos, Aparatos,…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693.9k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 de Productos Metálicos Maquinaria y Equipo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539.4k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 de Productos de Hule y Plástico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458.4k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Industrias Manufactureras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341.0k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Química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317.7k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Fab., Ensamble y Reparación de Maquinaria, Equipo…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Confección Calzado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225.5k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del Papel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159.5k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 de Productos de Minerales no Metálicos del P…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154.3k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Bebidas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141.7k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Industrias Metálicas Básicas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Industrias Editorial, de Impresión y Conexas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118.8k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Textil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 y Reparación de Muebles de Madera y sus Part…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109.6k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 de Calzado e Industria del Cuero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y Productos de Madera y Corcho Muebles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31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Refinación del Petróleo y derivados del Carbón Mi…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y Fab. de Productos de Tabaco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— Mar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71323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2377440" y="713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interanual</a:t>
            </a:r>
            <a:endParaRPr lang="en-US" sz="750" dirty="0"/>
          </a:p>
        </p:txBody>
      </p:sp>
      <p:pic>
        <p:nvPicPr>
          <p:cNvPr id="11" name="Image 0" descr="/sessions/funny-pensive-shannon/mnt/outputs/c_sub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0"/>
            <a:ext cx="877824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Plásticos, partes automotrices y electrónica lideran a 4 dígitos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de 129 fracciones productivas — Marzo 2026</a:t>
            </a:r>
            <a:endParaRPr lang="en-US" sz="900" dirty="0"/>
          </a:p>
        </p:txBody>
      </p:sp>
      <p:pic>
        <p:nvPicPr>
          <p:cNvPr id="5" name="Image 0" descr="/sessions/funny-pensive-shannon/mnt/outputs/c_sec4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877824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IMSS Datos Abiertos • Elaboración propia • Marzo 2026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9784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pierde 128k puestos en un año (-2.1%), con 17 de 20 subsectores en contracción.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28216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365760" y="1728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46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Transporte concentra 1.1M puestos (19% del sector) pero cae -4.8% anual.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36576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Maquinaria no eléctrica (+6.6%), Tabaco (+3.1%) y Alimentos (+1.2%) crecen.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36576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826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Confección (-10.4%) y Textil (-6.5%) registran las caídas más severas entre subsectores.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36576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 dígitos, Fabricación de plásticos (375k) y partes eléctricas automotrices (321k) son las fracciones más grandes.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 Datos Abiertos • Elaboración propia • Abril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1297</Words>
  <Application>Microsoft Macintosh PowerPoint</Application>
  <PresentationFormat>On-screen Show (16:9)</PresentationFormat>
  <Paragraphs>295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Manufactura — Empleo Formal IMSS 2019-2026</dc:title>
  <dc:subject/>
  <dc:creator>Germán Muciño</dc:creator>
  <cp:keywords/>
  <dc:description/>
  <cp:lastModifiedBy>GERMAN ALFREDO MUCIÑO GUERRERO</cp:lastModifiedBy>
  <cp:revision>2</cp:revision>
  <dcterms:created xsi:type="dcterms:W3CDTF">2026-04-30T19:34:55Z</dcterms:created>
  <dcterms:modified xsi:type="dcterms:W3CDTF">2026-04-30T19:40:28Z</dcterms:modified>
  <cp:category/>
</cp:coreProperties>
</file>